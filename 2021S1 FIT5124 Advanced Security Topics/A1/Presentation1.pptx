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95B8-1AE2-4B26-A7C5-EA456D99E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5F7F56-2372-4A19-A53A-03FE79D7A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2F2A7-25B6-4AD1-96C0-F357A66DD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A1D-8FB4-4D0E-B6C3-9AFE49FFBF53}" type="datetimeFigureOut">
              <a:rPr lang="en-CA" smtClean="0"/>
              <a:t>2021-03-29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59C88-BE00-4389-8E57-B44321A67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F7F9D-105D-4134-9E33-73FC95704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8F13F-49D5-4FAA-A977-3B536F0107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7422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D70E0-CAA8-4FC0-950D-760E0FAA7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B006F-4968-4427-906C-3319711BA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5AA77-4E60-405B-BFBC-A5D5425A9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A1D-8FB4-4D0E-B6C3-9AFE49FFBF53}" type="datetimeFigureOut">
              <a:rPr lang="en-CA" smtClean="0"/>
              <a:t>2021-03-29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ECF41-8047-4BDD-939F-EE0644A29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5F637-BFD4-418E-9990-415E82F5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8F13F-49D5-4FAA-A977-3B536F0107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3720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D5102-B5A4-4065-8312-CEA12F98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2F0A0-8486-48D9-8D44-7281DCA41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75D3B-A9B9-4E67-B88A-A98DDEE05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A1D-8FB4-4D0E-B6C3-9AFE49FFBF53}" type="datetimeFigureOut">
              <a:rPr lang="en-CA" smtClean="0"/>
              <a:t>2021-03-29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4091B-C5B8-4D11-9933-C09CE33C2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6DCE9-1C5D-4CD7-A40B-2F94084D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8F13F-49D5-4FAA-A977-3B536F0107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942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3326-99E2-4F6C-9A82-C0883AB3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AAB3C-F47B-4C57-A874-A3F480A88F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C9D39C-545B-40F9-B2C6-45AE5EBF9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6335D-2512-4FD0-B356-1E47A0458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A1D-8FB4-4D0E-B6C3-9AFE49FFBF53}" type="datetimeFigureOut">
              <a:rPr lang="en-CA" smtClean="0"/>
              <a:t>2021-03-29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F66C80-9950-47F1-BEA3-242A56F93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286D5-E7FD-4637-B5AC-BF055DB22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8F13F-49D5-4FAA-A977-3B536F0107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3470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3244D-E058-4942-8D17-565D7B7D2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C446D-D9F0-497C-9EFB-4EB1803A3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AD5E2-307E-4558-8605-475C99A66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F75DCB-E936-4065-A782-1A666F9081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A14FE9-B73E-4A1E-A068-AA2E9B160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A04C93-DD13-4191-88D5-58A420105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A1D-8FB4-4D0E-B6C3-9AFE49FFBF53}" type="datetimeFigureOut">
              <a:rPr lang="en-CA" smtClean="0"/>
              <a:t>2021-03-29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6AD0E5-2E9B-45C4-B1B3-5CDC2E6ED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460824-0E10-4B21-BDD7-A46CF83AC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8F13F-49D5-4FAA-A977-3B536F0107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3659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713D2-8BC5-44E5-9C82-7B2DF64E1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91446-569D-4B1E-A5B0-79EA43D33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A1D-8FB4-4D0E-B6C3-9AFE49FFBF53}" type="datetimeFigureOut">
              <a:rPr lang="en-CA" smtClean="0"/>
              <a:t>2021-03-29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414996-2E24-43C8-9CC5-2C5D74778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15CC-6FA9-4CEA-860A-50F3A5DA5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8F13F-49D5-4FAA-A977-3B536F0107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5529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A4940F-FA5C-4A13-B02D-66355859D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A1D-8FB4-4D0E-B6C3-9AFE49FFBF53}" type="datetimeFigureOut">
              <a:rPr lang="en-CA" smtClean="0"/>
              <a:t>2021-03-29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4E6FA5-3434-43E2-8EAE-A7B0AE299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45DFC-2F57-42A7-B897-0CABE014A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8F13F-49D5-4FAA-A977-3B536F0107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0210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5EB95-D193-4B1C-B2C8-CA67BD55B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7BB0B-942C-4A86-802B-A906B442A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A68E3-8A9D-4FB3-89D2-F4A8DBEC0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2B7B2-A834-45EF-904A-5767E49C2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A1D-8FB4-4D0E-B6C3-9AFE49FFBF53}" type="datetimeFigureOut">
              <a:rPr lang="en-CA" smtClean="0"/>
              <a:t>2021-03-29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7C3D5-1DCB-4B6E-A326-C038407FF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744F5-6DCC-490F-9E50-E1BE75BC2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8F13F-49D5-4FAA-A977-3B536F0107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361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89411-3B2B-4E9E-B2AF-F379DF105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146BA1-3BBE-45FD-B58B-2018B3078A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7F8ACF-71F0-4DC2-B8C3-2C8BE92BB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35E42-7F70-4894-B34A-5AA34977C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A1D-8FB4-4D0E-B6C3-9AFE49FFBF53}" type="datetimeFigureOut">
              <a:rPr lang="en-CA" smtClean="0"/>
              <a:t>2021-03-29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E35FD-0D20-4165-ABF6-34331D2AF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E5D8E-69D1-439C-BFE1-DD0E9594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8F13F-49D5-4FAA-A977-3B536F0107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030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D8501-AC54-447F-A5D6-0EC08A847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BA9E7-87AB-49FB-AE88-88B9BC611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63CE3-DC13-4ECA-993F-69AA1665B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A1D-8FB4-4D0E-B6C3-9AFE49FFBF53}" type="datetimeFigureOut">
              <a:rPr lang="en-CA" smtClean="0"/>
              <a:t>2021-03-29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E16BE-DD36-483F-B9DB-17426D34A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3BC01-6275-46FB-B91F-08CC6006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8F13F-49D5-4FAA-A977-3B536F0107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9587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37846A-FF22-4044-8587-2792C5368D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156B1A-DE6C-4ED8-B1C7-B7FB303658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13635-4F6A-495A-99CB-6B23BA505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A1D-8FB4-4D0E-B6C3-9AFE49FFBF53}" type="datetimeFigureOut">
              <a:rPr lang="en-CA" smtClean="0"/>
              <a:t>2021-03-29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F4F87-6084-4487-8C08-B70B47169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62369-5AF5-4485-B59A-69681162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8F13F-49D5-4FAA-A977-3B536F0107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6319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485DFD-2C83-4842-89E0-3DA69EC78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1963A-FB7D-4BCA-9278-676C1C8BE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0B949-D0E8-4D60-97C8-9CA84070F5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ABA1D-8FB4-4D0E-B6C3-9AFE49FFBF53}" type="datetimeFigureOut">
              <a:rPr lang="en-CA" smtClean="0"/>
              <a:t>2021-03-29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71E4B-E25E-457F-973F-0251FBB70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7791E-045A-41BD-907E-387E9D1AF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8F13F-49D5-4FAA-A977-3B536F0107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647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313670-C24A-42B1-9FC9-702A64A52765}"/>
              </a:ext>
            </a:extLst>
          </p:cNvPr>
          <p:cNvSpPr txBox="1"/>
          <p:nvPr/>
        </p:nvSpPr>
        <p:spPr>
          <a:xfrm>
            <a:off x="4969338" y="99199"/>
            <a:ext cx="700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client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6334A5-C344-4EDB-9D68-8632093E30D2}"/>
              </a:ext>
            </a:extLst>
          </p:cNvPr>
          <p:cNvSpPr txBox="1"/>
          <p:nvPr/>
        </p:nvSpPr>
        <p:spPr>
          <a:xfrm>
            <a:off x="5929173" y="99199"/>
            <a:ext cx="769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server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D7C5A8-A433-4A73-8813-05FDB04D8677}"/>
              </a:ext>
            </a:extLst>
          </p:cNvPr>
          <p:cNvCxnSpPr/>
          <p:nvPr/>
        </p:nvCxnSpPr>
        <p:spPr>
          <a:xfrm>
            <a:off x="5843588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C21E176-4270-41AE-82CA-1007EBFD0A48}"/>
              </a:ext>
            </a:extLst>
          </p:cNvPr>
          <p:cNvSpPr txBox="1"/>
          <p:nvPr/>
        </p:nvSpPr>
        <p:spPr>
          <a:xfrm>
            <a:off x="428558" y="731339"/>
            <a:ext cx="1128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200" dirty="0"/>
              <a:t>Gen:</a:t>
            </a:r>
          </a:p>
          <a:p>
            <a:r>
              <a:rPr lang="en-CA" sz="1200" dirty="0"/>
              <a:t>K = (K1, K2, K3)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5AE05C-6984-468F-B31E-F0666DBBD60E}"/>
              </a:ext>
            </a:extLst>
          </p:cNvPr>
          <p:cNvSpPr txBox="1"/>
          <p:nvPr/>
        </p:nvSpPr>
        <p:spPr>
          <a:xfrm>
            <a:off x="356813" y="2076370"/>
            <a:ext cx="3732112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200" dirty="0"/>
              <a:t>Enc input: (K, M, </a:t>
            </a:r>
            <a:r>
              <a:rPr lang="en-CA" sz="1200" b="1" dirty="0"/>
              <a:t>M</a:t>
            </a:r>
            <a:r>
              <a:rPr lang="en-CA" sz="1200" dirty="0"/>
              <a:t>)</a:t>
            </a:r>
          </a:p>
          <a:p>
            <a:r>
              <a:rPr lang="en-CA" sz="1200" dirty="0"/>
              <a:t>K = (K1, K2, K3)</a:t>
            </a:r>
          </a:p>
          <a:p>
            <a:r>
              <a:rPr lang="en-CA" sz="1200" dirty="0"/>
              <a:t>M = [Y1] * [Y2], </a:t>
            </a:r>
            <a:r>
              <a:rPr lang="zh-CN" altLang="en-US" sz="1200" dirty="0"/>
              <a:t>存放</a:t>
            </a:r>
            <a:r>
              <a:rPr lang="en-US" altLang="zh-CN" sz="1200" dirty="0"/>
              <a:t>pointer</a:t>
            </a:r>
            <a:r>
              <a:rPr lang="zh-CN" altLang="en-US" sz="1200" dirty="0"/>
              <a:t>的</a:t>
            </a:r>
            <a:r>
              <a:rPr lang="en-US" altLang="zh-CN" sz="1200" dirty="0"/>
              <a:t>matrix</a:t>
            </a:r>
          </a:p>
          <a:p>
            <a:r>
              <a:rPr lang="en-US" sz="1200" b="1" dirty="0"/>
              <a:t>M</a:t>
            </a:r>
            <a:r>
              <a:rPr lang="en-US" sz="1200" dirty="0"/>
              <a:t> = </a:t>
            </a:r>
            <a:r>
              <a:rPr lang="en-US" altLang="zh-CN" sz="1200" b="1" dirty="0"/>
              <a:t>m, v </a:t>
            </a:r>
            <a:r>
              <a:rPr lang="zh-CN" altLang="en-US" sz="1200" dirty="0"/>
              <a:t>存放信息</a:t>
            </a:r>
            <a:r>
              <a:rPr lang="en-US" altLang="zh-CN" sz="1200" b="1" dirty="0"/>
              <a:t>m</a:t>
            </a:r>
            <a:r>
              <a:rPr lang="zh-CN" altLang="en-US" sz="1200" dirty="0"/>
              <a:t>和</a:t>
            </a:r>
            <a:r>
              <a:rPr lang="en-US" altLang="zh-CN" sz="1200" b="1" dirty="0"/>
              <a:t>v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r>
              <a:rPr lang="en-US" sz="1200" dirty="0"/>
              <a:t>E</a:t>
            </a:r>
            <a:r>
              <a:rPr lang="en-US" altLang="zh-CN" sz="1200" dirty="0"/>
              <a:t>nc</a:t>
            </a:r>
            <a:r>
              <a:rPr lang="en-CA" altLang="zh-CN" sz="1200" dirty="0"/>
              <a:t>:</a:t>
            </a:r>
          </a:p>
          <a:p>
            <a:r>
              <a:rPr lang="zh-CN" altLang="en-US" sz="1200" dirty="0"/>
              <a:t>对每个</a:t>
            </a:r>
            <a:r>
              <a:rPr lang="en-CA" altLang="zh-CN" sz="1200" dirty="0"/>
              <a:t>M</a:t>
            </a:r>
            <a:r>
              <a:rPr lang="zh-CN" altLang="en-US" sz="1200" dirty="0"/>
              <a:t>里的位置：</a:t>
            </a:r>
            <a:endParaRPr lang="en-CA" altLang="zh-CN" sz="1200" dirty="0"/>
          </a:p>
          <a:p>
            <a:r>
              <a:rPr lang="en-CA" altLang="zh-CN" sz="1200" dirty="0"/>
              <a:t>    </a:t>
            </a:r>
            <a:r>
              <a:rPr lang="zh-CN" altLang="en-US" sz="1200" dirty="0"/>
              <a:t>比如</a:t>
            </a:r>
            <a:r>
              <a:rPr lang="en-US" altLang="zh-CN" sz="1200" dirty="0"/>
              <a:t>i = 2, in M_13</a:t>
            </a:r>
            <a:endParaRPr lang="en-CA" altLang="zh-CN" sz="1200" dirty="0"/>
          </a:p>
          <a:p>
            <a:r>
              <a:rPr lang="en-US" altLang="zh-CN" sz="1200" dirty="0"/>
              <a:t>    j=4 : pi(2) </a:t>
            </a:r>
            <a:r>
              <a:rPr lang="en-US" altLang="zh-CN" sz="1200" dirty="0">
                <a:sym typeface="Wingdings" panose="05000000000000000000" pitchFamily="2" charset="2"/>
              </a:rPr>
              <a:t> </a:t>
            </a:r>
            <a:r>
              <a:rPr lang="zh-CN" altLang="en-US" sz="1200" dirty="0">
                <a:sym typeface="Wingdings" panose="05000000000000000000" pitchFamily="2" charset="2"/>
              </a:rPr>
              <a:t>一个</a:t>
            </a:r>
            <a:r>
              <a:rPr lang="en-US" altLang="zh-CN" sz="1200" dirty="0">
                <a:sym typeface="Wingdings" panose="05000000000000000000" pitchFamily="2" charset="2"/>
              </a:rPr>
              <a:t>pointer</a:t>
            </a:r>
          </a:p>
          <a:p>
            <a:r>
              <a:rPr lang="en-US" sz="1200" dirty="0">
                <a:sym typeface="Wingdings" panose="05000000000000000000" pitchFamily="2" charset="2"/>
              </a:rPr>
              <a:t>    </a:t>
            </a:r>
            <a:r>
              <a:rPr lang="en-US" altLang="zh-CN" sz="1200" dirty="0">
                <a:sym typeface="Wingdings" panose="05000000000000000000" pitchFamily="2" charset="2"/>
              </a:rPr>
              <a:t>v2  semi private data</a:t>
            </a:r>
          </a:p>
          <a:p>
            <a:r>
              <a:rPr lang="zh-CN" altLang="en-US" sz="1200" dirty="0">
                <a:sym typeface="Wingdings" panose="05000000000000000000" pitchFamily="2" charset="2"/>
              </a:rPr>
              <a:t>（</a:t>
            </a:r>
            <a:r>
              <a:rPr lang="en-CA" altLang="zh-CN" sz="1200" dirty="0">
                <a:sym typeface="Wingdings" panose="05000000000000000000" pitchFamily="2" charset="2"/>
              </a:rPr>
              <a:t>4</a:t>
            </a:r>
            <a:r>
              <a:rPr lang="zh-CN" altLang="en-US" sz="1200" dirty="0">
                <a:sym typeface="Wingdings" panose="05000000000000000000" pitchFamily="2" charset="2"/>
              </a:rPr>
              <a:t>，</a:t>
            </a:r>
            <a:r>
              <a:rPr lang="en-US" altLang="zh-CN" sz="1200" dirty="0">
                <a:sym typeface="Wingdings" panose="05000000000000000000" pitchFamily="2" charset="2"/>
              </a:rPr>
              <a:t>v2</a:t>
            </a:r>
            <a:r>
              <a:rPr lang="zh-CN" altLang="en-US" sz="1200" dirty="0">
                <a:sym typeface="Wingdings" panose="05000000000000000000" pitchFamily="2" charset="2"/>
              </a:rPr>
              <a:t>）用</a:t>
            </a:r>
            <a:r>
              <a:rPr lang="en-US" altLang="zh-CN" sz="1200" dirty="0"/>
              <a:t>F(K1, 1, 3)</a:t>
            </a:r>
            <a:r>
              <a:rPr lang="zh-CN" altLang="en-US" sz="1200" dirty="0"/>
              <a:t>加密成</a:t>
            </a:r>
            <a:r>
              <a:rPr lang="en-CA" altLang="zh-CN" sz="1200" dirty="0"/>
              <a:t>(4, V2’)</a:t>
            </a:r>
          </a:p>
          <a:p>
            <a:r>
              <a:rPr lang="en-CA" sz="1200" dirty="0">
                <a:sym typeface="Wingdings" panose="05000000000000000000" pitchFamily="2" charset="2"/>
              </a:rPr>
              <a:t>   </a:t>
            </a:r>
            <a:r>
              <a:rPr lang="zh-CN" altLang="en-US" sz="1200" dirty="0">
                <a:sym typeface="Wingdings" panose="05000000000000000000" pitchFamily="2" charset="2"/>
              </a:rPr>
              <a:t>存储在</a:t>
            </a:r>
            <a:r>
              <a:rPr lang="en-CA" altLang="zh-CN" sz="1200" dirty="0">
                <a:sym typeface="Wingdings" panose="05000000000000000000" pitchFamily="2" charset="2"/>
              </a:rPr>
              <a:t>C(5,7) = P(K2, 1, 3)</a:t>
            </a:r>
            <a:r>
              <a:rPr lang="zh-CN" altLang="en-US" sz="1200" dirty="0">
                <a:sym typeface="Wingdings" panose="05000000000000000000" pitchFamily="2" charset="2"/>
              </a:rPr>
              <a:t>里</a:t>
            </a:r>
            <a:endParaRPr lang="en-CA" altLang="zh-CN" sz="1200" dirty="0">
              <a:sym typeface="Wingdings" panose="05000000000000000000" pitchFamily="2" charset="2"/>
            </a:endParaRPr>
          </a:p>
          <a:p>
            <a:r>
              <a:rPr lang="en-US" altLang="zh-CN" sz="1200" dirty="0">
                <a:sym typeface="Wingdings" panose="05000000000000000000" pitchFamily="2" charset="2"/>
              </a:rPr>
              <a:t>【</a:t>
            </a:r>
            <a:r>
              <a:rPr lang="zh-CN" altLang="en-US" sz="1200" dirty="0">
                <a:sym typeface="Wingdings" panose="05000000000000000000" pitchFamily="2" charset="2"/>
              </a:rPr>
              <a:t>这一步完成</a:t>
            </a:r>
            <a:r>
              <a:rPr lang="en-CA" altLang="zh-CN" sz="1200" dirty="0">
                <a:sym typeface="Wingdings" panose="05000000000000000000" pitchFamily="2" charset="2"/>
              </a:rPr>
              <a:t>C </a:t>
            </a:r>
            <a:r>
              <a:rPr lang="en-US" altLang="zh-CN" sz="1200" dirty="0">
                <a:sym typeface="Wingdings" panose="05000000000000000000" pitchFamily="2" charset="2"/>
              </a:rPr>
              <a:t>matrix</a:t>
            </a:r>
            <a:r>
              <a:rPr lang="zh-CN" altLang="en-US" sz="1200" dirty="0">
                <a:sym typeface="Wingdings" panose="05000000000000000000" pitchFamily="2" charset="2"/>
              </a:rPr>
              <a:t>，是一个加密数据结构</a:t>
            </a:r>
            <a:r>
              <a:rPr lang="en-US" altLang="zh-CN" sz="1200" dirty="0">
                <a:sym typeface="Wingdings" panose="05000000000000000000" pitchFamily="2" charset="2"/>
              </a:rPr>
              <a:t>】</a:t>
            </a:r>
            <a:endParaRPr lang="en-CA" sz="1200" dirty="0"/>
          </a:p>
          <a:p>
            <a:endParaRPr lang="en-CA" sz="1200" dirty="0"/>
          </a:p>
          <a:p>
            <a:r>
              <a:rPr lang="en-US" altLang="zh-CN" sz="1200" b="1" dirty="0"/>
              <a:t>m* </a:t>
            </a:r>
            <a:r>
              <a:rPr lang="zh-CN" altLang="en-US" sz="1200" dirty="0"/>
              <a:t>是</a:t>
            </a:r>
            <a:r>
              <a:rPr lang="en-US" altLang="zh-CN" sz="1200" dirty="0"/>
              <a:t>permute</a:t>
            </a:r>
            <a:r>
              <a:rPr lang="zh-CN" altLang="en-US" sz="1200" dirty="0"/>
              <a:t>过的</a:t>
            </a:r>
            <a:r>
              <a:rPr lang="en-US" altLang="zh-CN" sz="1200" b="1" dirty="0"/>
              <a:t>m</a:t>
            </a:r>
          </a:p>
          <a:p>
            <a:r>
              <a:rPr lang="zh-CN" altLang="en-US" sz="1200" dirty="0"/>
              <a:t>用</a:t>
            </a:r>
            <a:r>
              <a:rPr lang="en-CA" altLang="zh-CN" sz="1200" dirty="0"/>
              <a:t>K3</a:t>
            </a:r>
            <a:r>
              <a:rPr lang="zh-CN" altLang="en-US" sz="1200" dirty="0"/>
              <a:t>加密</a:t>
            </a:r>
            <a:r>
              <a:rPr lang="en-US" altLang="zh-CN" sz="1200" dirty="0"/>
              <a:t>m4*</a:t>
            </a:r>
            <a:r>
              <a:rPr lang="zh-CN" altLang="en-US" sz="1200" dirty="0"/>
              <a:t>到</a:t>
            </a:r>
            <a:r>
              <a:rPr lang="en-US" altLang="zh-CN" sz="1200" dirty="0"/>
              <a:t>c4</a:t>
            </a:r>
            <a:r>
              <a:rPr lang="zh-CN" altLang="en-US" sz="1200" dirty="0"/>
              <a:t>，组成</a:t>
            </a:r>
            <a:r>
              <a:rPr lang="en-US" altLang="zh-CN" sz="1200" b="1" dirty="0"/>
              <a:t>c</a:t>
            </a:r>
            <a:r>
              <a:rPr lang="en-CA" altLang="zh-CN" sz="1200" dirty="0"/>
              <a:t>=</a:t>
            </a:r>
            <a:r>
              <a:rPr lang="zh-CN" altLang="en-US" sz="1200" dirty="0"/>
              <a:t>（</a:t>
            </a:r>
            <a:r>
              <a:rPr lang="en-CA" altLang="zh-CN" sz="1200" dirty="0"/>
              <a:t>c1,…</a:t>
            </a:r>
            <a:r>
              <a:rPr lang="en-CA" altLang="zh-CN" sz="1200" dirty="0" err="1"/>
              <a:t>cn</a:t>
            </a:r>
            <a:r>
              <a:rPr lang="zh-CN" altLang="en-US" sz="1200" dirty="0"/>
              <a:t>）</a:t>
            </a:r>
            <a:r>
              <a:rPr lang="en-US" altLang="zh-CN" sz="1200" dirty="0" err="1"/>
              <a:t>ct</a:t>
            </a:r>
            <a:r>
              <a:rPr lang="zh-CN" altLang="en-US" sz="1200" dirty="0"/>
              <a:t>向量</a:t>
            </a:r>
            <a:endParaRPr lang="en-CA" altLang="zh-CN" sz="1200" dirty="0"/>
          </a:p>
          <a:p>
            <a:endParaRPr lang="en-CA" sz="1200" dirty="0">
              <a:highlight>
                <a:srgbClr val="FFFF00"/>
              </a:highlight>
            </a:endParaRPr>
          </a:p>
          <a:p>
            <a:r>
              <a:rPr lang="en-US" altLang="zh-CN" sz="1200" dirty="0">
                <a:highlight>
                  <a:srgbClr val="FFFF00"/>
                </a:highlight>
              </a:rPr>
              <a:t>Output</a:t>
            </a:r>
            <a:r>
              <a:rPr lang="zh-CN" altLang="en-US" sz="1200" dirty="0">
                <a:highlight>
                  <a:srgbClr val="FFFF00"/>
                </a:highlight>
              </a:rPr>
              <a:t>给</a:t>
            </a:r>
            <a:r>
              <a:rPr lang="en-US" altLang="zh-CN" sz="1200" dirty="0">
                <a:highlight>
                  <a:srgbClr val="FFFF00"/>
                </a:highlight>
              </a:rPr>
              <a:t>server</a:t>
            </a:r>
            <a:r>
              <a:rPr lang="zh-CN" altLang="en-US" sz="1200" dirty="0">
                <a:highlight>
                  <a:srgbClr val="FFFF00"/>
                </a:highlight>
              </a:rPr>
              <a:t>：</a:t>
            </a:r>
            <a:endParaRPr lang="en-CA" altLang="zh-CN" sz="1200" dirty="0">
              <a:highlight>
                <a:srgbClr val="FFFF00"/>
              </a:highlight>
            </a:endParaRPr>
          </a:p>
          <a:p>
            <a:r>
              <a:rPr lang="en-CA" sz="1200" dirty="0">
                <a:highlight>
                  <a:srgbClr val="FFFF00"/>
                </a:highlight>
              </a:rPr>
              <a:t>C</a:t>
            </a:r>
            <a:r>
              <a:rPr lang="zh-CN" altLang="en-US" sz="1200" dirty="0">
                <a:highlight>
                  <a:srgbClr val="FFFF00"/>
                </a:highlight>
              </a:rPr>
              <a:t> </a:t>
            </a:r>
            <a:r>
              <a:rPr lang="en-US" altLang="zh-CN" sz="1200" dirty="0">
                <a:highlight>
                  <a:srgbClr val="FFFF00"/>
                </a:highlight>
              </a:rPr>
              <a:t>matrix</a:t>
            </a:r>
            <a:r>
              <a:rPr lang="zh-CN" altLang="en-US" sz="1200" dirty="0">
                <a:highlight>
                  <a:srgbClr val="FFFF00"/>
                </a:highlight>
              </a:rPr>
              <a:t>：加密数据结构，存放</a:t>
            </a:r>
            <a:endParaRPr lang="en-CA" altLang="zh-CN" sz="1200" dirty="0">
              <a:highlight>
                <a:srgbClr val="FFFF00"/>
              </a:highlight>
            </a:endParaRPr>
          </a:p>
          <a:p>
            <a:r>
              <a:rPr lang="en-CA" altLang="zh-CN" sz="1200" dirty="0">
                <a:highlight>
                  <a:srgbClr val="FFFF00"/>
                </a:highlight>
              </a:rPr>
              <a:t>    </a:t>
            </a:r>
            <a:r>
              <a:rPr lang="en-CA" altLang="zh-CN" sz="1600" dirty="0">
                <a:highlight>
                  <a:srgbClr val="FFFF00"/>
                </a:highlight>
              </a:rPr>
              <a:t>(   (pi(i)) + F(K1, (</a:t>
            </a:r>
            <a:r>
              <a:rPr lang="en-CA" altLang="zh-CN" sz="1600" dirty="0" err="1">
                <a:highlight>
                  <a:srgbClr val="FFFF00"/>
                </a:highlight>
              </a:rPr>
              <a:t>a,b</a:t>
            </a:r>
            <a:r>
              <a:rPr lang="en-CA" altLang="zh-CN" sz="1600" dirty="0">
                <a:highlight>
                  <a:srgbClr val="FFFF00"/>
                </a:highlight>
              </a:rPr>
              <a:t>)), </a:t>
            </a:r>
            <a:r>
              <a:rPr lang="en-CA" altLang="zh-CN" sz="1600" dirty="0" err="1">
                <a:highlight>
                  <a:srgbClr val="FFFF00"/>
                </a:highlight>
              </a:rPr>
              <a:t>v_i</a:t>
            </a:r>
            <a:r>
              <a:rPr lang="en-CA" altLang="zh-CN" sz="1600" dirty="0">
                <a:highlight>
                  <a:srgbClr val="FFFF00"/>
                </a:highlight>
              </a:rPr>
              <a:t> + F(K1, (</a:t>
            </a:r>
            <a:r>
              <a:rPr lang="en-CA" altLang="zh-CN" sz="1600" dirty="0" err="1">
                <a:highlight>
                  <a:srgbClr val="FFFF00"/>
                </a:highlight>
              </a:rPr>
              <a:t>a,b</a:t>
            </a:r>
            <a:r>
              <a:rPr lang="en-CA" altLang="zh-CN" sz="1600" dirty="0">
                <a:highlight>
                  <a:srgbClr val="FFFF00"/>
                </a:highlight>
              </a:rPr>
              <a:t>))   )</a:t>
            </a:r>
          </a:p>
          <a:p>
            <a:r>
              <a:rPr lang="en-US" altLang="zh-CN" sz="1200" b="1" dirty="0">
                <a:highlight>
                  <a:srgbClr val="FFFF00"/>
                </a:highlight>
              </a:rPr>
              <a:t>c</a:t>
            </a:r>
            <a:r>
              <a:rPr lang="en-CA" altLang="zh-CN" sz="1200" dirty="0">
                <a:highlight>
                  <a:srgbClr val="FFFF00"/>
                </a:highlight>
              </a:rPr>
              <a:t>=</a:t>
            </a:r>
            <a:r>
              <a:rPr lang="zh-CN" altLang="en-US" sz="1200" dirty="0">
                <a:highlight>
                  <a:srgbClr val="FFFF00"/>
                </a:highlight>
              </a:rPr>
              <a:t>（</a:t>
            </a:r>
            <a:r>
              <a:rPr lang="en-CA" altLang="zh-CN" sz="1200" dirty="0">
                <a:highlight>
                  <a:srgbClr val="FFFF00"/>
                </a:highlight>
              </a:rPr>
              <a:t>c1,…</a:t>
            </a:r>
            <a:r>
              <a:rPr lang="en-CA" altLang="zh-CN" sz="1200" dirty="0" err="1">
                <a:highlight>
                  <a:srgbClr val="FFFF00"/>
                </a:highlight>
              </a:rPr>
              <a:t>cn</a:t>
            </a:r>
            <a:r>
              <a:rPr lang="zh-CN" altLang="en-US" sz="1200" dirty="0">
                <a:highlight>
                  <a:srgbClr val="FFFF00"/>
                </a:highlight>
              </a:rPr>
              <a:t>）</a:t>
            </a:r>
            <a:r>
              <a:rPr lang="en-US" altLang="zh-CN" sz="1200" dirty="0" err="1">
                <a:highlight>
                  <a:srgbClr val="FFFF00"/>
                </a:highlight>
              </a:rPr>
              <a:t>ct</a:t>
            </a:r>
            <a:r>
              <a:rPr lang="zh-CN" altLang="en-US" sz="1200" dirty="0">
                <a:highlight>
                  <a:srgbClr val="FFFF00"/>
                </a:highlight>
              </a:rPr>
              <a:t>向量</a:t>
            </a:r>
            <a:r>
              <a:rPr lang="en-CA" altLang="zh-CN" sz="1200" dirty="0">
                <a:highlight>
                  <a:srgbClr val="FFFF00"/>
                </a:highlight>
              </a:rPr>
              <a:t>, </a:t>
            </a:r>
            <a:r>
              <a:rPr lang="en-CA" altLang="zh-CN" sz="1200" dirty="0" err="1">
                <a:highlight>
                  <a:srgbClr val="FFFF00"/>
                </a:highlight>
              </a:rPr>
              <a:t>c_j</a:t>
            </a:r>
            <a:r>
              <a:rPr lang="en-CA" altLang="zh-CN" sz="1200" dirty="0">
                <a:highlight>
                  <a:srgbClr val="FFFF00"/>
                </a:highlight>
              </a:rPr>
              <a:t> = enc (K3, </a:t>
            </a:r>
            <a:r>
              <a:rPr lang="en-CA" altLang="zh-CN" sz="1200" dirty="0" err="1">
                <a:highlight>
                  <a:srgbClr val="FFFF00"/>
                </a:highlight>
              </a:rPr>
              <a:t>mj</a:t>
            </a:r>
            <a:r>
              <a:rPr lang="en-CA" altLang="zh-CN" sz="1200" dirty="0">
                <a:highlight>
                  <a:srgbClr val="FFFF00"/>
                </a:highlight>
              </a:rPr>
              <a:t>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48756E-2686-40E7-B495-13D43A67E752}"/>
              </a:ext>
            </a:extLst>
          </p:cNvPr>
          <p:cNvCxnSpPr/>
          <p:nvPr/>
        </p:nvCxnSpPr>
        <p:spPr>
          <a:xfrm>
            <a:off x="5457463" y="962171"/>
            <a:ext cx="856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0AA4FD6-F798-4C2D-ACDE-54EE2469FC94}"/>
              </a:ext>
            </a:extLst>
          </p:cNvPr>
          <p:cNvSpPr txBox="1"/>
          <p:nvPr/>
        </p:nvSpPr>
        <p:spPr>
          <a:xfrm>
            <a:off x="6555611" y="731339"/>
            <a:ext cx="1920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>
                <a:highlight>
                  <a:srgbClr val="FFFF00"/>
                </a:highlight>
              </a:rPr>
              <a:t>C</a:t>
            </a:r>
            <a:r>
              <a:rPr lang="zh-CN" altLang="en-US" sz="1200" dirty="0">
                <a:highlight>
                  <a:srgbClr val="FFFF00"/>
                </a:highlight>
              </a:rPr>
              <a:t> </a:t>
            </a:r>
            <a:r>
              <a:rPr lang="en-US" altLang="zh-CN" sz="1200" dirty="0">
                <a:highlight>
                  <a:srgbClr val="FFFF00"/>
                </a:highlight>
              </a:rPr>
              <a:t>matrix</a:t>
            </a:r>
            <a:r>
              <a:rPr lang="zh-CN" altLang="en-US" sz="1200" dirty="0">
                <a:highlight>
                  <a:srgbClr val="FFFF00"/>
                </a:highlight>
              </a:rPr>
              <a:t>：加密数据结构</a:t>
            </a:r>
            <a:endParaRPr lang="en-CA" altLang="zh-CN" sz="1200" dirty="0">
              <a:highlight>
                <a:srgbClr val="FFFF00"/>
              </a:highlight>
            </a:endParaRPr>
          </a:p>
          <a:p>
            <a:r>
              <a:rPr lang="en-US" altLang="zh-CN" sz="1200" b="1" dirty="0">
                <a:highlight>
                  <a:srgbClr val="FFFF00"/>
                </a:highlight>
              </a:rPr>
              <a:t>c</a:t>
            </a:r>
            <a:r>
              <a:rPr lang="en-CA" altLang="zh-CN" sz="1200" dirty="0">
                <a:highlight>
                  <a:srgbClr val="FFFF00"/>
                </a:highlight>
              </a:rPr>
              <a:t>=</a:t>
            </a:r>
            <a:r>
              <a:rPr lang="zh-CN" altLang="en-US" sz="1200" dirty="0">
                <a:highlight>
                  <a:srgbClr val="FFFF00"/>
                </a:highlight>
              </a:rPr>
              <a:t>（</a:t>
            </a:r>
            <a:r>
              <a:rPr lang="en-CA" altLang="zh-CN" sz="1200" dirty="0">
                <a:highlight>
                  <a:srgbClr val="FFFF00"/>
                </a:highlight>
              </a:rPr>
              <a:t>c1,…</a:t>
            </a:r>
            <a:r>
              <a:rPr lang="en-CA" altLang="zh-CN" sz="1200" dirty="0" err="1">
                <a:highlight>
                  <a:srgbClr val="FFFF00"/>
                </a:highlight>
              </a:rPr>
              <a:t>cn</a:t>
            </a:r>
            <a:r>
              <a:rPr lang="zh-CN" altLang="en-US" sz="1200" dirty="0">
                <a:highlight>
                  <a:srgbClr val="FFFF00"/>
                </a:highlight>
              </a:rPr>
              <a:t>）</a:t>
            </a:r>
            <a:r>
              <a:rPr lang="en-US" altLang="zh-CN" sz="1200" dirty="0" err="1">
                <a:highlight>
                  <a:srgbClr val="FFFF00"/>
                </a:highlight>
              </a:rPr>
              <a:t>ct</a:t>
            </a:r>
            <a:r>
              <a:rPr lang="zh-CN" altLang="en-US" sz="1200" dirty="0">
                <a:highlight>
                  <a:srgbClr val="FFFF00"/>
                </a:highlight>
              </a:rPr>
              <a:t>向量</a:t>
            </a:r>
            <a:endParaRPr lang="en-CA" altLang="zh-CN" sz="1200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CE0DDA-483A-4B59-98C6-5CC8792ACD09}"/>
              </a:ext>
            </a:extLst>
          </p:cNvPr>
          <p:cNvSpPr txBox="1"/>
          <p:nvPr/>
        </p:nvSpPr>
        <p:spPr>
          <a:xfrm>
            <a:off x="3417071" y="1578669"/>
            <a:ext cx="19850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T</a:t>
            </a:r>
            <a:r>
              <a:rPr lang="en-US" altLang="zh-CN" sz="1200" dirty="0" err="1"/>
              <a:t>oken</a:t>
            </a:r>
            <a:r>
              <a:rPr lang="zh-CN" altLang="en-US" sz="1200" dirty="0"/>
              <a:t>：</a:t>
            </a:r>
            <a:endParaRPr lang="en-CA" altLang="zh-CN" sz="1200" dirty="0"/>
          </a:p>
          <a:p>
            <a:r>
              <a:rPr lang="en-US" altLang="zh-CN" sz="1200" dirty="0"/>
              <a:t>Input: K, 1, 3</a:t>
            </a:r>
            <a:endParaRPr lang="en-CA" altLang="zh-C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s = F(K1, 1, 3) </a:t>
            </a:r>
            <a:r>
              <a:rPr lang="zh-CN" altLang="en-US" sz="1200" dirty="0"/>
              <a:t>用于解密</a:t>
            </a:r>
            <a:r>
              <a:rPr lang="en-US" altLang="zh-CN" sz="1200" dirty="0"/>
              <a:t>j</a:t>
            </a:r>
            <a:r>
              <a:rPr lang="zh-CN" altLang="en-US" sz="1200" dirty="0"/>
              <a:t>和</a:t>
            </a:r>
            <a:r>
              <a:rPr lang="en-US" altLang="zh-CN" sz="1200" dirty="0"/>
              <a:t>vi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(5,7) = P(K2, 1, 3) </a:t>
            </a:r>
            <a:r>
              <a:rPr lang="zh-CN" altLang="en-US" sz="1200" dirty="0"/>
              <a:t>用于查找在</a:t>
            </a:r>
            <a:r>
              <a:rPr lang="en-CA" altLang="zh-CN" sz="1200" dirty="0"/>
              <a:t>C </a:t>
            </a:r>
            <a:r>
              <a:rPr lang="en-US" altLang="zh-CN" sz="1200" dirty="0"/>
              <a:t>matrix</a:t>
            </a:r>
            <a:r>
              <a:rPr lang="zh-CN" altLang="en-US" sz="1200" dirty="0"/>
              <a:t>中的位置</a:t>
            </a:r>
            <a:endParaRPr lang="en-CA" sz="12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E3DD350-9400-4255-BC6F-1A04D080E800}"/>
              </a:ext>
            </a:extLst>
          </p:cNvPr>
          <p:cNvCxnSpPr/>
          <p:nvPr/>
        </p:nvCxnSpPr>
        <p:spPr>
          <a:xfrm>
            <a:off x="5625296" y="2187615"/>
            <a:ext cx="625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D62A92E-8A8C-41EF-B7E9-028693F6A815}"/>
              </a:ext>
            </a:extLst>
          </p:cNvPr>
          <p:cNvSpPr txBox="1"/>
          <p:nvPr/>
        </p:nvSpPr>
        <p:spPr>
          <a:xfrm>
            <a:off x="6515100" y="1578669"/>
            <a:ext cx="2136973" cy="838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oken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：</a:t>
            </a:r>
            <a:endParaRPr kumimoji="0" lang="en-CA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 = F(K1, 1, 3)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用于解密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j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vi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(5,7) = P(K2, 1, 3)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用于查找在</a:t>
            </a:r>
            <a:r>
              <a:rPr kumimoji="0" lang="en-CA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matrix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中的位置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36E8B0-8C75-4342-AED4-CA0AFE434122}"/>
              </a:ext>
            </a:extLst>
          </p:cNvPr>
          <p:cNvSpPr txBox="1"/>
          <p:nvPr/>
        </p:nvSpPr>
        <p:spPr>
          <a:xfrm>
            <a:off x="6452886" y="3196112"/>
            <a:ext cx="369043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查找：</a:t>
            </a:r>
            <a:endParaRPr lang="en-CA" altLang="zh-CN" sz="1200" dirty="0"/>
          </a:p>
          <a:p>
            <a:r>
              <a:rPr lang="zh-CN" altLang="en-US" sz="1200" dirty="0"/>
              <a:t>定位</a:t>
            </a:r>
            <a:r>
              <a:rPr lang="en-CA" altLang="zh-CN" sz="1200" dirty="0"/>
              <a:t>C</a:t>
            </a:r>
            <a:r>
              <a:rPr lang="zh-CN" altLang="en-US" sz="1200" dirty="0"/>
              <a:t>（</a:t>
            </a:r>
            <a:r>
              <a:rPr lang="en-CA" altLang="zh-CN" sz="1200" dirty="0"/>
              <a:t>5</a:t>
            </a:r>
            <a:r>
              <a:rPr lang="zh-CN" altLang="en-US" sz="1200" dirty="0"/>
              <a:t>， </a:t>
            </a:r>
            <a:r>
              <a:rPr lang="en-CA" altLang="zh-CN" sz="1200" dirty="0"/>
              <a:t>7</a:t>
            </a:r>
            <a:r>
              <a:rPr lang="zh-CN" altLang="en-US" sz="1200" dirty="0"/>
              <a:t>）</a:t>
            </a:r>
            <a:endParaRPr lang="en-CA" altLang="zh-CN" sz="1200" dirty="0"/>
          </a:p>
          <a:p>
            <a:r>
              <a:rPr lang="zh-CN" altLang="en-US" sz="1200" dirty="0"/>
              <a:t>用</a:t>
            </a:r>
            <a:r>
              <a:rPr lang="en-US" altLang="zh-CN" sz="1200" dirty="0"/>
              <a:t>s = F(K1, 1, 3)</a:t>
            </a:r>
            <a:r>
              <a:rPr lang="zh-CN" altLang="en-US" sz="1200" dirty="0"/>
              <a:t>和</a:t>
            </a:r>
            <a:r>
              <a:rPr lang="en-CA" altLang="zh-CN" sz="1200" dirty="0"/>
              <a:t>C(5,7)</a:t>
            </a:r>
            <a:r>
              <a:rPr lang="zh-CN" altLang="en-US" sz="1200" dirty="0"/>
              <a:t>存储的数据 解密出</a:t>
            </a:r>
            <a:r>
              <a:rPr lang="zh-CN" altLang="en-US" sz="1200" dirty="0">
                <a:sym typeface="Wingdings" panose="05000000000000000000" pitchFamily="2" charset="2"/>
              </a:rPr>
              <a:t>（</a:t>
            </a:r>
            <a:r>
              <a:rPr lang="en-CA" altLang="zh-CN" sz="1200" dirty="0">
                <a:sym typeface="Wingdings" panose="05000000000000000000" pitchFamily="2" charset="2"/>
              </a:rPr>
              <a:t>4</a:t>
            </a:r>
            <a:r>
              <a:rPr lang="zh-CN" altLang="en-US" sz="1200" dirty="0">
                <a:sym typeface="Wingdings" panose="05000000000000000000" pitchFamily="2" charset="2"/>
              </a:rPr>
              <a:t>，</a:t>
            </a:r>
            <a:r>
              <a:rPr lang="en-US" altLang="zh-CN" sz="1200" dirty="0">
                <a:sym typeface="Wingdings" panose="05000000000000000000" pitchFamily="2" charset="2"/>
              </a:rPr>
              <a:t>v2</a:t>
            </a:r>
            <a:r>
              <a:rPr lang="zh-CN" altLang="en-US" sz="1200" dirty="0">
                <a:sym typeface="Wingdings" panose="05000000000000000000" pitchFamily="2" charset="2"/>
              </a:rPr>
              <a:t>‘）</a:t>
            </a:r>
            <a:endParaRPr lang="en-CA" altLang="zh-CN" sz="1200" dirty="0">
              <a:sym typeface="Wingdings" panose="05000000000000000000" pitchFamily="2" charset="2"/>
            </a:endParaRPr>
          </a:p>
          <a:p>
            <a:r>
              <a:rPr lang="en-US" altLang="zh-CN" sz="1200" dirty="0">
                <a:sym typeface="Wingdings" panose="05000000000000000000" pitchFamily="2" charset="2"/>
              </a:rPr>
              <a:t>j = 4 </a:t>
            </a:r>
            <a:r>
              <a:rPr lang="zh-CN" altLang="en-US" sz="1200" dirty="0">
                <a:sym typeface="Wingdings" panose="05000000000000000000" pitchFamily="2" charset="2"/>
              </a:rPr>
              <a:t>所以找出</a:t>
            </a:r>
            <a:r>
              <a:rPr lang="en-US" altLang="zh-CN" sz="1200" b="1" dirty="0">
                <a:sym typeface="Wingdings" panose="05000000000000000000" pitchFamily="2" charset="2"/>
              </a:rPr>
              <a:t>c</a:t>
            </a:r>
            <a:r>
              <a:rPr lang="zh-CN" altLang="en-US" sz="1200" dirty="0">
                <a:sym typeface="Wingdings" panose="05000000000000000000" pitchFamily="2" charset="2"/>
              </a:rPr>
              <a:t>里的</a:t>
            </a:r>
            <a:r>
              <a:rPr lang="en-US" altLang="zh-CN" sz="1200" dirty="0">
                <a:sym typeface="Wingdings" panose="05000000000000000000" pitchFamily="2" charset="2"/>
              </a:rPr>
              <a:t>c4</a:t>
            </a:r>
          </a:p>
          <a:p>
            <a:r>
              <a:rPr lang="en-US" altLang="zh-CN" sz="1200" dirty="0">
                <a:sym typeface="Wingdings" panose="05000000000000000000" pitchFamily="2" charset="2"/>
              </a:rPr>
              <a:t>Return v2</a:t>
            </a:r>
            <a:r>
              <a:rPr lang="zh-CN" altLang="en-US" sz="1200" dirty="0">
                <a:sym typeface="Wingdings" panose="05000000000000000000" pitchFamily="2" charset="2"/>
              </a:rPr>
              <a:t>和</a:t>
            </a:r>
            <a:r>
              <a:rPr lang="en-US" altLang="zh-CN" sz="1200" dirty="0">
                <a:sym typeface="Wingdings" panose="05000000000000000000" pitchFamily="2" charset="2"/>
              </a:rPr>
              <a:t>c4</a:t>
            </a:r>
            <a:endParaRPr lang="en-CA" sz="12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EFCBD4F-C2C5-4603-83BB-95C4637397A9}"/>
              </a:ext>
            </a:extLst>
          </p:cNvPr>
          <p:cNvCxnSpPr/>
          <p:nvPr/>
        </p:nvCxnSpPr>
        <p:spPr>
          <a:xfrm flipH="1">
            <a:off x="5512083" y="3525064"/>
            <a:ext cx="8019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DAAC845-421F-40BE-9437-B49CD75D0E1C}"/>
              </a:ext>
            </a:extLst>
          </p:cNvPr>
          <p:cNvSpPr txBox="1"/>
          <p:nvPr/>
        </p:nvSpPr>
        <p:spPr>
          <a:xfrm>
            <a:off x="3922821" y="3288971"/>
            <a:ext cx="18057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D</a:t>
            </a:r>
            <a:r>
              <a:rPr lang="en-US" altLang="zh-CN" sz="1200" dirty="0" err="1"/>
              <a:t>ec</a:t>
            </a:r>
            <a:r>
              <a:rPr lang="zh-CN" altLang="en-US" sz="1200" dirty="0"/>
              <a:t>：</a:t>
            </a:r>
            <a:endParaRPr lang="en-CA" altLang="zh-CN" sz="1200" dirty="0"/>
          </a:p>
          <a:p>
            <a:r>
              <a:rPr lang="en-US" altLang="zh-CN" sz="1200" dirty="0"/>
              <a:t>v2</a:t>
            </a:r>
            <a:r>
              <a:rPr lang="zh-CN" altLang="en-US" sz="1200" dirty="0"/>
              <a:t>‘用</a:t>
            </a:r>
            <a:r>
              <a:rPr lang="en-CA" altLang="zh-CN" sz="1200" dirty="0"/>
              <a:t>F(K1, 1, 3)</a:t>
            </a:r>
            <a:r>
              <a:rPr lang="zh-CN" altLang="en-US" sz="1200" dirty="0"/>
              <a:t>解密成</a:t>
            </a:r>
            <a:r>
              <a:rPr lang="en-US" altLang="zh-CN" sz="1200" dirty="0"/>
              <a:t>v2</a:t>
            </a:r>
            <a:endParaRPr lang="en-CA" altLang="zh-CN" sz="1200" dirty="0"/>
          </a:p>
          <a:p>
            <a:r>
              <a:rPr lang="zh-CN" altLang="en-US" sz="1200" dirty="0"/>
              <a:t>用</a:t>
            </a:r>
            <a:r>
              <a:rPr lang="en-US" altLang="zh-CN" sz="1200" dirty="0"/>
              <a:t>c4</a:t>
            </a:r>
            <a:r>
              <a:rPr lang="zh-CN" altLang="en-US" sz="1200" dirty="0"/>
              <a:t>和</a:t>
            </a:r>
            <a:r>
              <a:rPr lang="en-CA" altLang="zh-CN" sz="1200" dirty="0"/>
              <a:t>K3</a:t>
            </a:r>
            <a:r>
              <a:rPr lang="zh-CN" altLang="en-US" sz="1200" dirty="0"/>
              <a:t>去解密出</a:t>
            </a:r>
            <a:r>
              <a:rPr lang="en-US" altLang="zh-CN" sz="1200" dirty="0"/>
              <a:t>m4</a:t>
            </a:r>
          </a:p>
          <a:p>
            <a:endParaRPr lang="en-CA" sz="1200" dirty="0"/>
          </a:p>
          <a:p>
            <a:r>
              <a:rPr lang="en-US" altLang="zh-CN" sz="1200" dirty="0"/>
              <a:t>Iterate</a:t>
            </a:r>
            <a:r>
              <a:rPr lang="zh-CN" altLang="en-US" sz="1200" dirty="0"/>
              <a:t>所有</a:t>
            </a:r>
            <a:r>
              <a:rPr lang="en-CA" altLang="zh-CN" sz="1200" dirty="0"/>
              <a:t>M</a:t>
            </a:r>
            <a:r>
              <a:rPr lang="zh-CN" altLang="en-US" sz="1200" dirty="0"/>
              <a:t>里的</a:t>
            </a:r>
            <a:r>
              <a:rPr lang="en-US" altLang="zh-CN" sz="1200" dirty="0"/>
              <a:t>pointer</a:t>
            </a:r>
            <a:r>
              <a:rPr lang="zh-CN" altLang="en-US" sz="1200" dirty="0"/>
              <a:t>，则得到</a:t>
            </a:r>
            <a:r>
              <a:rPr lang="en-US" altLang="zh-CN" sz="1200" b="1" dirty="0"/>
              <a:t>m</a:t>
            </a:r>
            <a:r>
              <a:rPr lang="zh-CN" altLang="en-US" sz="1200" dirty="0"/>
              <a:t>和</a:t>
            </a:r>
            <a:r>
              <a:rPr lang="en-US" altLang="zh-CN" sz="1200" b="1" dirty="0"/>
              <a:t>v</a:t>
            </a:r>
            <a:endParaRPr lang="en-US" sz="12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1AD03A-A4F9-467C-B113-D098BAC13217}"/>
              </a:ext>
            </a:extLst>
          </p:cNvPr>
          <p:cNvSpPr txBox="1"/>
          <p:nvPr/>
        </p:nvSpPr>
        <p:spPr>
          <a:xfrm>
            <a:off x="6515100" y="5025656"/>
            <a:ext cx="31518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Q:</a:t>
            </a:r>
          </a:p>
          <a:p>
            <a:r>
              <a:rPr lang="en-US" altLang="zh-CN" dirty="0"/>
              <a:t>V</a:t>
            </a:r>
            <a:r>
              <a:rPr lang="zh-CN" altLang="en-US" dirty="0"/>
              <a:t>的加密</a:t>
            </a:r>
            <a:r>
              <a:rPr lang="en-US" altLang="zh-CN" dirty="0"/>
              <a:t>like tut2</a:t>
            </a:r>
            <a:r>
              <a:rPr lang="zh-CN" altLang="en-US" dirty="0"/>
              <a:t>？</a:t>
            </a:r>
            <a:endParaRPr lang="en-CA" altLang="zh-CN" dirty="0"/>
          </a:p>
          <a:p>
            <a:r>
              <a:rPr lang="en-US" altLang="zh-CN" dirty="0"/>
              <a:t>M</a:t>
            </a:r>
            <a:r>
              <a:rPr lang="zh-CN" altLang="en-US" dirty="0"/>
              <a:t>的加密多了一步位置加密？</a:t>
            </a:r>
            <a:endParaRPr lang="en-CA" altLang="zh-CN" dirty="0"/>
          </a:p>
          <a:p>
            <a:r>
              <a:rPr lang="zh-CN" altLang="en-US" dirty="0"/>
              <a:t>为什么要分开</a:t>
            </a:r>
            <a:r>
              <a:rPr lang="en-US" altLang="zh-CN" dirty="0"/>
              <a:t>v</a:t>
            </a:r>
            <a:r>
              <a:rPr lang="zh-CN" altLang="en-US" dirty="0"/>
              <a:t>和</a:t>
            </a:r>
            <a:r>
              <a:rPr lang="en-US" altLang="zh-CN" dirty="0"/>
              <a:t>m</a:t>
            </a:r>
            <a:r>
              <a:rPr lang="zh-CN" altLang="en-US" dirty="0"/>
              <a:t>的加密？</a:t>
            </a:r>
            <a:endParaRPr lang="en-CA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05C678-AE46-4478-9E50-15ADA2B0CC4B}"/>
              </a:ext>
            </a:extLst>
          </p:cNvPr>
          <p:cNvSpPr txBox="1"/>
          <p:nvPr/>
        </p:nvSpPr>
        <p:spPr>
          <a:xfrm>
            <a:off x="9040836" y="-14338"/>
            <a:ext cx="273998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Server knows: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1. Setup leakage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C matrix (&amp; size = a*b)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FF0000"/>
                </a:solidFill>
              </a:rPr>
              <a:t>c </a:t>
            </a:r>
            <a:r>
              <a:rPr lang="zh-CN" altLang="en-US" dirty="0">
                <a:solidFill>
                  <a:srgbClr val="FF0000"/>
                </a:solidFill>
              </a:rPr>
              <a:t>向量 </a:t>
            </a:r>
            <a:r>
              <a:rPr lang="en-CA" altLang="zh-CN" dirty="0">
                <a:solidFill>
                  <a:srgbClr val="FF0000"/>
                </a:solidFill>
              </a:rPr>
              <a:t>(&amp;size=n)</a:t>
            </a:r>
          </a:p>
          <a:p>
            <a:r>
              <a:rPr lang="en-CA" altLang="zh-CN" dirty="0">
                <a:solidFill>
                  <a:srgbClr val="FF0000"/>
                </a:solidFill>
              </a:rPr>
              <a:t>2. </a:t>
            </a:r>
            <a:r>
              <a:rPr lang="en-US" altLang="zh-CN" dirty="0">
                <a:solidFill>
                  <a:srgbClr val="FF0000"/>
                </a:solidFill>
              </a:rPr>
              <a:t>Search pattern (token &amp; corresponding)</a:t>
            </a:r>
            <a:endParaRPr lang="en-CA" altLang="zh-CN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 = F(K1, 1, 3)</a:t>
            </a:r>
          </a:p>
          <a:p>
            <a:pPr marL="285750" indent="-285750">
              <a:buFontTx/>
              <a:buChar char="-"/>
            </a:pPr>
            <a:r>
              <a:rPr kumimoji="0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(5,7)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位置</a:t>
            </a:r>
            <a:endParaRPr kumimoji="0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285750" indent="-285750">
              <a:buFontTx/>
              <a:buChar char="-"/>
            </a:pPr>
            <a:r>
              <a:rPr lang="en-US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v</a:t>
            </a:r>
            <a:r>
              <a:rPr lang="en-CA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2’</a:t>
            </a:r>
            <a:r>
              <a:rPr lang="zh-CN" altLang="en-US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和 </a:t>
            </a:r>
            <a:r>
              <a:rPr lang="en-CA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4</a:t>
            </a:r>
          </a:p>
          <a:p>
            <a:pPr marL="285750" indent="-285750">
              <a:buFontTx/>
              <a:buChar char="-"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C4</a:t>
            </a:r>
          </a:p>
          <a:p>
            <a:r>
              <a:rPr lang="en-US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3. A p</a:t>
            </a:r>
          </a:p>
          <a:p>
            <a:r>
              <a:rPr lang="en-US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Whether before</a:t>
            </a:r>
          </a:p>
          <a:p>
            <a:r>
              <a:rPr lang="en-US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How many times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068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561</Words>
  <Application>Microsoft Office PowerPoint</Application>
  <PresentationFormat>Widescreen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Daisy Cristata</dc:creator>
  <cp:lastModifiedBy>Daisy Cristata</cp:lastModifiedBy>
  <cp:revision>12</cp:revision>
  <dcterms:created xsi:type="dcterms:W3CDTF">2021-03-24T00:57:42Z</dcterms:created>
  <dcterms:modified xsi:type="dcterms:W3CDTF">2021-03-29T16:34:10Z</dcterms:modified>
</cp:coreProperties>
</file>