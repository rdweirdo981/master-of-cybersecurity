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24"/>
  </p:notesMasterIdLst>
  <p:sldIdLst>
    <p:sldId id="256" r:id="rId4"/>
    <p:sldId id="263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6858000" type="screen4x3"/>
  <p:notesSz cx="7772400" cy="10058400"/>
  <p:embeddedFontLst>
    <p:embeddedFont>
      <p:font typeface="Arial Narrow" panose="020B0606020202030204" pitchFamily="34" charset="0"/>
      <p:regular r:id="rId25"/>
      <p:bold r:id="rId26"/>
      <p:italic r:id="rId27"/>
      <p:bold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gNZCW8L5Lufm3tWY6TIwnre00J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36" y="-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1.fntdata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7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cae569c59d_0_3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gcae569c59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c7bc6d3fe9_0_43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c7bc6d3fe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c7bc6d3fe9_0_55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gc7bc6d3fe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7bc6d3fe9_0_49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c7bc6d3fe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c7bc6d3fe9_0_61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gc7bc6d3fe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cae569c59d_0_78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cae569c59d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c7bc6d3fe9_1_0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gc7bc6d3fe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cae569c59d_0_82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gcae569c59d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cae569c59d_0_67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gcae569c59d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cae569c59d_0_92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gcae569c59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cae569c59d_0_104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gcae569c59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cae569c59d_0_110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gcae569c59d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cae569c59d_0_116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gcae569c59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cae569c59d_0_122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gcae569c59d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cae569c59d_0_128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gcae569c59d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cae569c59d_0_185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4" name="Google Shape;314;gcae569c59d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cae569c59d_0_180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gcae569c59d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subTitle" idx="1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body" idx="2"/>
          </p:nvPr>
        </p:nvSpPr>
        <p:spPr>
          <a:xfrm>
            <a:off x="35892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body" idx="3"/>
          </p:nvPr>
        </p:nvSpPr>
        <p:spPr>
          <a:xfrm>
            <a:off x="457596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body" idx="3"/>
          </p:nvPr>
        </p:nvSpPr>
        <p:spPr>
          <a:xfrm>
            <a:off x="457596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3"/>
          </p:nvPr>
        </p:nvSpPr>
        <p:spPr>
          <a:xfrm>
            <a:off x="35892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2"/>
          </p:nvPr>
        </p:nvSpPr>
        <p:spPr>
          <a:xfrm>
            <a:off x="35892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body" idx="3"/>
          </p:nvPr>
        </p:nvSpPr>
        <p:spPr>
          <a:xfrm>
            <a:off x="457596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body" idx="4"/>
          </p:nvPr>
        </p:nvSpPr>
        <p:spPr>
          <a:xfrm>
            <a:off x="35892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2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pic>
        <p:nvPicPr>
          <p:cNvPr id="53" name="Google Shape;5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7280" y="1599840"/>
            <a:ext cx="5671800" cy="452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7280" y="1599840"/>
            <a:ext cx="5671800" cy="4525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3" name="Google Shape;63;p52"/>
          <p:cNvSpPr txBox="1">
            <a:spLocks noGrp="1"/>
          </p:cNvSpPr>
          <p:nvPr>
            <p:ph type="subTitle" idx="1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6" name="Google Shape;66;p53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9" name="Google Shape;69;p54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0" name="Google Shape;70;p54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6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7" name="Google Shape;77;p57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8" name="Google Shape;78;p57"/>
          <p:cNvSpPr txBox="1">
            <a:spLocks noGrp="1"/>
          </p:cNvSpPr>
          <p:nvPr>
            <p:ph type="body" idx="2"/>
          </p:nvPr>
        </p:nvSpPr>
        <p:spPr>
          <a:xfrm>
            <a:off x="35892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9" name="Google Shape;79;p57"/>
          <p:cNvSpPr txBox="1">
            <a:spLocks noGrp="1"/>
          </p:cNvSpPr>
          <p:nvPr>
            <p:ph type="body" idx="3"/>
          </p:nvPr>
        </p:nvSpPr>
        <p:spPr>
          <a:xfrm>
            <a:off x="457596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2" name="Google Shape;82;p58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3" name="Google Shape;83;p58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4" name="Google Shape;84;p58"/>
          <p:cNvSpPr txBox="1">
            <a:spLocks noGrp="1"/>
          </p:cNvSpPr>
          <p:nvPr>
            <p:ph type="body" idx="3"/>
          </p:nvPr>
        </p:nvSpPr>
        <p:spPr>
          <a:xfrm>
            <a:off x="457596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7" name="Google Shape;87;p59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8" name="Google Shape;88;p59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9" name="Google Shape;89;p59"/>
          <p:cNvSpPr txBox="1">
            <a:spLocks noGrp="1"/>
          </p:cNvSpPr>
          <p:nvPr>
            <p:ph type="body" idx="3"/>
          </p:nvPr>
        </p:nvSpPr>
        <p:spPr>
          <a:xfrm>
            <a:off x="35892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2" name="Google Shape;92;p60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3" name="Google Shape;93;p60"/>
          <p:cNvSpPr txBox="1">
            <a:spLocks noGrp="1"/>
          </p:cNvSpPr>
          <p:nvPr>
            <p:ph type="body" idx="2"/>
          </p:nvPr>
        </p:nvSpPr>
        <p:spPr>
          <a:xfrm>
            <a:off x="35892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6" name="Google Shape;96;p61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7" name="Google Shape;97;p61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8" name="Google Shape;98;p61"/>
          <p:cNvSpPr txBox="1">
            <a:spLocks noGrp="1"/>
          </p:cNvSpPr>
          <p:nvPr>
            <p:ph type="body" idx="3"/>
          </p:nvPr>
        </p:nvSpPr>
        <p:spPr>
          <a:xfrm>
            <a:off x="457596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9" name="Google Shape;99;p61"/>
          <p:cNvSpPr txBox="1">
            <a:spLocks noGrp="1"/>
          </p:cNvSpPr>
          <p:nvPr>
            <p:ph type="body" idx="4"/>
          </p:nvPr>
        </p:nvSpPr>
        <p:spPr>
          <a:xfrm>
            <a:off x="35892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2" name="Google Shape;102;p62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3" name="Google Shape;103;p62"/>
          <p:cNvSpPr txBox="1">
            <a:spLocks noGrp="1"/>
          </p:cNvSpPr>
          <p:nvPr>
            <p:ph type="body" idx="2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pic>
        <p:nvPicPr>
          <p:cNvPr id="104" name="Google Shape;104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7280" y="1599840"/>
            <a:ext cx="5671800" cy="452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7280" y="1599840"/>
            <a:ext cx="5671800" cy="4525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63"/>
          <p:cNvSpPr txBox="1">
            <a:spLocks noGrp="1"/>
          </p:cNvSpPr>
          <p:nvPr>
            <p:ph type="subTitle" idx="1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6" name="Google Shape;116;p64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9" name="Google Shape;119;p65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0" name="Google Shape;120;p65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7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7" name="Google Shape;127;p68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8" name="Google Shape;128;p68"/>
          <p:cNvSpPr txBox="1">
            <a:spLocks noGrp="1"/>
          </p:cNvSpPr>
          <p:nvPr>
            <p:ph type="body" idx="2"/>
          </p:nvPr>
        </p:nvSpPr>
        <p:spPr>
          <a:xfrm>
            <a:off x="35892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9" name="Google Shape;129;p68"/>
          <p:cNvSpPr txBox="1">
            <a:spLocks noGrp="1"/>
          </p:cNvSpPr>
          <p:nvPr>
            <p:ph type="body" idx="3"/>
          </p:nvPr>
        </p:nvSpPr>
        <p:spPr>
          <a:xfrm>
            <a:off x="457596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2" name="Google Shape;132;p69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3" name="Google Shape;133;p69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4" name="Google Shape;134;p69"/>
          <p:cNvSpPr txBox="1">
            <a:spLocks noGrp="1"/>
          </p:cNvSpPr>
          <p:nvPr>
            <p:ph type="body" idx="3"/>
          </p:nvPr>
        </p:nvSpPr>
        <p:spPr>
          <a:xfrm>
            <a:off x="457596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7" name="Google Shape;137;p70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8" name="Google Shape;138;p70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9" name="Google Shape;139;p70"/>
          <p:cNvSpPr txBox="1">
            <a:spLocks noGrp="1"/>
          </p:cNvSpPr>
          <p:nvPr>
            <p:ph type="body" idx="3"/>
          </p:nvPr>
        </p:nvSpPr>
        <p:spPr>
          <a:xfrm>
            <a:off x="35892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2" name="Google Shape;142;p71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3" name="Google Shape;143;p71"/>
          <p:cNvSpPr txBox="1">
            <a:spLocks noGrp="1"/>
          </p:cNvSpPr>
          <p:nvPr>
            <p:ph type="body" idx="2"/>
          </p:nvPr>
        </p:nvSpPr>
        <p:spPr>
          <a:xfrm>
            <a:off x="35892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6" name="Google Shape;146;p72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7" name="Google Shape;147;p72"/>
          <p:cNvSpPr txBox="1">
            <a:spLocks noGrp="1"/>
          </p:cNvSpPr>
          <p:nvPr>
            <p:ph type="body" idx="2"/>
          </p:nvPr>
        </p:nvSpPr>
        <p:spPr>
          <a:xfrm>
            <a:off x="457596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8" name="Google Shape;148;p72"/>
          <p:cNvSpPr txBox="1">
            <a:spLocks noGrp="1"/>
          </p:cNvSpPr>
          <p:nvPr>
            <p:ph type="body" idx="3"/>
          </p:nvPr>
        </p:nvSpPr>
        <p:spPr>
          <a:xfrm>
            <a:off x="457596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9" name="Google Shape;149;p72"/>
          <p:cNvSpPr txBox="1">
            <a:spLocks noGrp="1"/>
          </p:cNvSpPr>
          <p:nvPr>
            <p:ph type="body" idx="4"/>
          </p:nvPr>
        </p:nvSpPr>
        <p:spPr>
          <a:xfrm>
            <a:off x="35892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2" name="Google Shape;152;p73"/>
          <p:cNvSpPr txBox="1">
            <a:spLocks noGrp="1"/>
          </p:cNvSpPr>
          <p:nvPr>
            <p:ph type="body" idx="1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3" name="Google Shape;153;p73"/>
          <p:cNvSpPr txBox="1">
            <a:spLocks noGrp="1"/>
          </p:cNvSpPr>
          <p:nvPr>
            <p:ph type="body" idx="2"/>
          </p:nvPr>
        </p:nvSpPr>
        <p:spPr>
          <a:xfrm>
            <a:off x="35892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pic>
        <p:nvPicPr>
          <p:cNvPr id="154" name="Google Shape;154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7280" y="1599840"/>
            <a:ext cx="5671800" cy="452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7280" y="1599840"/>
            <a:ext cx="5671800" cy="4525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7"/>
          <p:cNvSpPr txBox="1">
            <a:spLocks noGrp="1"/>
          </p:cNvSpPr>
          <p:nvPr>
            <p:ph type="title"/>
          </p:nvPr>
        </p:nvSpPr>
        <p:spPr>
          <a:xfrm>
            <a:off x="274320" y="2130480"/>
            <a:ext cx="5351760" cy="146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title"/>
          </p:nvPr>
        </p:nvSpPr>
        <p:spPr>
          <a:xfrm>
            <a:off x="457200" y="141840"/>
            <a:ext cx="8229240" cy="51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1"/>
          </p:nvPr>
        </p:nvSpPr>
        <p:spPr>
          <a:xfrm>
            <a:off x="457200" y="1231200"/>
            <a:ext cx="831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077000" y="6356520"/>
            <a:ext cx="9900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283320" y="2362680"/>
            <a:ext cx="5493960" cy="146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lucidchart/invitations/accept/b64f9e31-f632-42cc-90d7-208fe1fa830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"/>
          <p:cNvSpPr txBox="1"/>
          <p:nvPr/>
        </p:nvSpPr>
        <p:spPr>
          <a:xfrm>
            <a:off x="274320" y="1748693"/>
            <a:ext cx="5234382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dirty="0"/>
              <a:t>FIT5136 Software Engineering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2800" dirty="0"/>
          </a:p>
        </p:txBody>
      </p:sp>
      <p:sp>
        <p:nvSpPr>
          <p:cNvPr id="161" name="Google Shape;161;p1"/>
          <p:cNvSpPr txBox="1"/>
          <p:nvPr/>
        </p:nvSpPr>
        <p:spPr>
          <a:xfrm>
            <a:off x="1335711" y="4005236"/>
            <a:ext cx="3111600" cy="22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1700" dirty="0"/>
              <a:t>Team 48</a:t>
            </a:r>
            <a:endParaRPr sz="17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7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7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1700" dirty="0" err="1"/>
              <a:t>Haorong</a:t>
            </a:r>
            <a:r>
              <a:rPr lang="en-US" sz="1700" dirty="0"/>
              <a:t> Ren</a:t>
            </a:r>
            <a:endParaRPr sz="17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1700" dirty="0" err="1"/>
              <a:t>Manyan</a:t>
            </a:r>
            <a:r>
              <a:rPr lang="en-US" sz="1700" dirty="0"/>
              <a:t> Wen</a:t>
            </a:r>
            <a:endParaRPr sz="17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/>
              <a:t>Mihir </a:t>
            </a:r>
            <a:r>
              <a:rPr lang="en-US" sz="1700" dirty="0" err="1"/>
              <a:t>Bhanushali</a:t>
            </a:r>
            <a:endParaRPr sz="17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Xiaohui Ding</a:t>
            </a:r>
            <a:endParaRPr sz="17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700" dirty="0"/>
          </a:p>
        </p:txBody>
      </p:sp>
      <p:sp>
        <p:nvSpPr>
          <p:cNvPr id="162" name="Google Shape;162;p1"/>
          <p:cNvSpPr/>
          <p:nvPr/>
        </p:nvSpPr>
        <p:spPr>
          <a:xfrm>
            <a:off x="3646825" y="324725"/>
            <a:ext cx="19836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0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1850" b="0" i="0" u="none" strike="noStrike" cap="none">
                <a:solidFill>
                  <a:srgbClr val="006DAE"/>
                </a:solidFill>
                <a:latin typeface="Arial Narrow"/>
                <a:ea typeface="Arial Narrow"/>
                <a:cs typeface="Arial Narrow"/>
                <a:sym typeface="Arial Narrow"/>
              </a:rPr>
              <a:t>MONASH</a:t>
            </a:r>
            <a:br>
              <a:rPr lang="en-US" sz="1850" b="0" i="0" u="none" strike="noStrike" cap="none" baseline="30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1850">
                <a:latin typeface="Arial Narrow"/>
                <a:ea typeface="Arial Narrow"/>
                <a:cs typeface="Arial Narrow"/>
                <a:sym typeface="Arial Narrow"/>
              </a:rPr>
              <a:t>Software Engineering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"/>
          <p:cNvSpPr txBox="1"/>
          <p:nvPr/>
        </p:nvSpPr>
        <p:spPr>
          <a:xfrm>
            <a:off x="295775" y="2300450"/>
            <a:ext cx="58968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For the complete and clear prototype, check the link here: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https://lucid.app/lucidchart/invitations/accept/b64f9e31-f632-42cc-90d7-208fe1fa8308</a:t>
            </a:r>
            <a:r>
              <a:rPr lang="en-US">
                <a:solidFill>
                  <a:schemeClr val="dk1"/>
                </a:solidFill>
              </a:rPr>
              <a:t>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ae569c59d_0_3"/>
          <p:cNvSpPr txBox="1"/>
          <p:nvPr/>
        </p:nvSpPr>
        <p:spPr>
          <a:xfrm>
            <a:off x="295775" y="2300450"/>
            <a:ext cx="58968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UI screens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Explain the UI screens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170950" y="793988"/>
            <a:ext cx="44094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Feature 1: User Registration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389700" y="1951350"/>
            <a:ext cx="45606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Related Screens: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[1] Main Screen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[2] Invalid Main Screen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[3] Login Screen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[4] Invalid Login Screen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[5] Create An Account Screen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[6] Invalid Create An Account Screen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[7] Home Screen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[8] Invalid Home Screen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75" name="Google Shape;17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9950" y="1219900"/>
            <a:ext cx="4560601" cy="441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c7bc6d3fe9_0_43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Explain the UI screens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c7bc6d3fe9_0_43"/>
          <p:cNvSpPr txBox="1"/>
          <p:nvPr/>
        </p:nvSpPr>
        <p:spPr>
          <a:xfrm>
            <a:off x="170950" y="794000"/>
            <a:ext cx="59652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2: Conference Management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c7bc6d3fe9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6000" y="807463"/>
            <a:ext cx="4218201" cy="524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c7bc6d3fe9_0_43"/>
          <p:cNvSpPr txBox="1"/>
          <p:nvPr/>
        </p:nvSpPr>
        <p:spPr>
          <a:xfrm>
            <a:off x="170950" y="1561500"/>
            <a:ext cx="44217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Related Screens: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[9] Chair Dashboard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[10] Submit A Conference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[11] Invalid Submit A Conference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[12] Modify Deadline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[13] Send Notification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[14] Invalid Send Notification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[15] Make Decision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[16] Final Decision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[17] Invalid Make Decision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[18] Enter Paper Id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[19] Assign Reviewers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[20] Invalid Assign Reviewers Screen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c7bc6d3fe9_0_55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Explain the UI screens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c7bc6d3fe9_0_55"/>
          <p:cNvSpPr txBox="1"/>
          <p:nvPr/>
        </p:nvSpPr>
        <p:spPr>
          <a:xfrm>
            <a:off x="170950" y="793988"/>
            <a:ext cx="44094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3: Paper Submission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gc7bc6d3fe9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7500" y="870438"/>
            <a:ext cx="4606495" cy="524861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c7bc6d3fe9_0_55"/>
          <p:cNvSpPr txBox="1"/>
          <p:nvPr/>
        </p:nvSpPr>
        <p:spPr>
          <a:xfrm>
            <a:off x="238625" y="1659275"/>
            <a:ext cx="5232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Related Screens: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[21] Author Dashboard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[22] Upload Paper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[23] Invalid Upload Paper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[24] Author Notification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[25] View Evaluation - Select Paper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[26] View Evaluation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c7bc6d3fe9_0_49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Explain the UI screens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c7bc6d3fe9_0_49"/>
          <p:cNvSpPr txBox="1"/>
          <p:nvPr/>
        </p:nvSpPr>
        <p:spPr>
          <a:xfrm>
            <a:off x="170950" y="793988"/>
            <a:ext cx="44094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4: Review Management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gc7bc6d3fe9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9925" y="1759600"/>
            <a:ext cx="5231999" cy="419022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c7bc6d3fe9_0_49"/>
          <p:cNvSpPr txBox="1"/>
          <p:nvPr/>
        </p:nvSpPr>
        <p:spPr>
          <a:xfrm>
            <a:off x="238625" y="1659275"/>
            <a:ext cx="52320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Related Screens: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[27] Reviewer Dashboard Screen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[28] Invalid Reviewer Dashboard Screen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[29] Choose Topics Screen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[30] Choose Paper Screen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[31] Write Evaluation Screen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c7bc6d3fe9_0_61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Explain the UI screens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c7bc6d3fe9_0_61"/>
          <p:cNvSpPr txBox="1"/>
          <p:nvPr/>
        </p:nvSpPr>
        <p:spPr>
          <a:xfrm>
            <a:off x="170950" y="794000"/>
            <a:ext cx="59277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5: Conference Administration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gc7bc6d3fe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5200" y="1478825"/>
            <a:ext cx="4823924" cy="457704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c7bc6d3fe9_0_61"/>
          <p:cNvSpPr txBox="1"/>
          <p:nvPr/>
        </p:nvSpPr>
        <p:spPr>
          <a:xfrm>
            <a:off x="238625" y="1433700"/>
            <a:ext cx="44199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Related Screens: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[32] Admin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[33] Registered Users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[34] Registered Users - Information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[35] Invalid Registered Users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[36] Registered Conferences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[37] Registered Conferences - Information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[38] Invalid Registered Conferences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[39] Registered Papers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[40] Registered Papers - Information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[41] Invalid Registered Papers Screen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ae569c59d_0_78"/>
          <p:cNvSpPr txBox="1"/>
          <p:nvPr/>
        </p:nvSpPr>
        <p:spPr>
          <a:xfrm>
            <a:off x="295775" y="2300450"/>
            <a:ext cx="63705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 of the events of the application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c7bc6d3fe9_1_0"/>
          <p:cNvSpPr txBox="1"/>
          <p:nvPr/>
        </p:nvSpPr>
        <p:spPr>
          <a:xfrm>
            <a:off x="170950" y="794000"/>
            <a:ext cx="59277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c7bc6d3fe9_1_0"/>
          <p:cNvSpPr txBox="1"/>
          <p:nvPr/>
        </p:nvSpPr>
        <p:spPr>
          <a:xfrm>
            <a:off x="455726" y="77750"/>
            <a:ext cx="6465900" cy="7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Flow of the events of the application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gc7bc6d3fe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6000" y="851450"/>
            <a:ext cx="5431900" cy="50545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c7bc6d3fe9_1_0"/>
          <p:cNvSpPr txBox="1"/>
          <p:nvPr/>
        </p:nvSpPr>
        <p:spPr>
          <a:xfrm>
            <a:off x="279400" y="1060450"/>
            <a:ext cx="29019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8761D"/>
                </a:solidFill>
              </a:rPr>
              <a:t>Green</a:t>
            </a:r>
            <a:r>
              <a:rPr lang="en-US" dirty="0"/>
              <a:t>: enter the appropriate option to jump to the next level of the screen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D85C6"/>
                </a:solidFill>
              </a:rPr>
              <a:t>Blue</a:t>
            </a:r>
            <a:r>
              <a:rPr lang="en-US" dirty="0"/>
              <a:t>: usually used to return to the previous level of the screen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06666"/>
                </a:solidFill>
              </a:rPr>
              <a:t>Red</a:t>
            </a:r>
            <a:r>
              <a:rPr lang="en-US" dirty="0"/>
              <a:t>: because of the invalid input, back the screen with an add error message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1C232"/>
                </a:solidFill>
              </a:rPr>
              <a:t>Yellow</a:t>
            </a:r>
            <a:r>
              <a:rPr lang="en-US" dirty="0"/>
              <a:t>: return from </a:t>
            </a:r>
            <a:r>
              <a:rPr lang="en-US" dirty="0">
                <a:solidFill>
                  <a:schemeClr val="dk1"/>
                </a:solidFill>
              </a:rPr>
              <a:t>the screen with an add error message to the original screen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Number</a:t>
            </a:r>
            <a:r>
              <a:rPr lang="en-US" dirty="0"/>
              <a:t>: represent the number on the corresponding option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cae569c59d_0_82"/>
          <p:cNvSpPr txBox="1"/>
          <p:nvPr/>
        </p:nvSpPr>
        <p:spPr>
          <a:xfrm>
            <a:off x="295775" y="2300450"/>
            <a:ext cx="63705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Usability Design Principles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cae569c59d_0_82"/>
          <p:cNvSpPr txBox="1"/>
          <p:nvPr/>
        </p:nvSpPr>
        <p:spPr>
          <a:xfrm>
            <a:off x="295775" y="3169550"/>
            <a:ext cx="724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/>
              <a:t>Ben </a:t>
            </a:r>
            <a:r>
              <a:rPr lang="en-US" sz="1600" i="1" dirty="0" err="1"/>
              <a:t>Shneiderman’s</a:t>
            </a:r>
            <a:r>
              <a:rPr lang="en-US" sz="1600" i="1" dirty="0"/>
              <a:t> 8 Golden Rules </a:t>
            </a:r>
            <a:endParaRPr sz="16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cae569c59d_0_67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Usability Design Principles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cae569c59d_0_67"/>
          <p:cNvSpPr txBox="1"/>
          <p:nvPr/>
        </p:nvSpPr>
        <p:spPr>
          <a:xfrm>
            <a:off x="372225" y="1229475"/>
            <a:ext cx="6497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cae569c59d_0_67"/>
          <p:cNvSpPr txBox="1"/>
          <p:nvPr/>
        </p:nvSpPr>
        <p:spPr>
          <a:xfrm>
            <a:off x="170950" y="793988"/>
            <a:ext cx="44094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1: Strive for consistency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gcae569c59d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375" y="1304600"/>
            <a:ext cx="3511968" cy="47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cae569c59d_0_67"/>
          <p:cNvSpPr txBox="1"/>
          <p:nvPr/>
        </p:nvSpPr>
        <p:spPr>
          <a:xfrm>
            <a:off x="4410325" y="1669425"/>
            <a:ext cx="4139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Conference Management System box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have this title box on the top for all screens to maintain the consistency.</a:t>
            </a:r>
            <a:endParaRPr dirty="0"/>
          </a:p>
        </p:txBody>
      </p:sp>
      <p:cxnSp>
        <p:nvCxnSpPr>
          <p:cNvPr id="241" name="Google Shape;241;gcae569c59d_0_67"/>
          <p:cNvCxnSpPr/>
          <p:nvPr/>
        </p:nvCxnSpPr>
        <p:spPr>
          <a:xfrm rot="10800000" flipH="1">
            <a:off x="3440275" y="2007700"/>
            <a:ext cx="902400" cy="259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" name="Google Shape;242;gcae569c59d_0_67"/>
          <p:cNvCxnSpPr/>
          <p:nvPr/>
        </p:nvCxnSpPr>
        <p:spPr>
          <a:xfrm rot="10800000" flipH="1">
            <a:off x="3389650" y="5577800"/>
            <a:ext cx="902400" cy="259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" name="Google Shape;243;gcae569c59d_0_67"/>
          <p:cNvSpPr txBox="1"/>
          <p:nvPr/>
        </p:nvSpPr>
        <p:spPr>
          <a:xfrm>
            <a:off x="4342675" y="5006000"/>
            <a:ext cx="4139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Input box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have this input box in the bottom for all screens to maintain the consistency.</a:t>
            </a:r>
            <a:endParaRPr dirty="0"/>
          </a:p>
        </p:txBody>
      </p:sp>
      <p:cxnSp>
        <p:nvCxnSpPr>
          <p:cNvPr id="244" name="Google Shape;244;gcae569c59d_0_67"/>
          <p:cNvCxnSpPr/>
          <p:nvPr/>
        </p:nvCxnSpPr>
        <p:spPr>
          <a:xfrm rot="10800000" flipH="1">
            <a:off x="3835325" y="4500725"/>
            <a:ext cx="902400" cy="259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gcae569c59d_0_67"/>
          <p:cNvSpPr txBox="1"/>
          <p:nvPr/>
        </p:nvSpPr>
        <p:spPr>
          <a:xfrm>
            <a:off x="4822175" y="3928925"/>
            <a:ext cx="4139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Flow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previously introduced, our flow and flow number all maintain the consistency.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cae569c59d_0_92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Usability Design Principles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cae569c59d_0_92"/>
          <p:cNvSpPr txBox="1"/>
          <p:nvPr/>
        </p:nvSpPr>
        <p:spPr>
          <a:xfrm>
            <a:off x="372225" y="1229475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cae569c59d_0_92"/>
          <p:cNvSpPr txBox="1"/>
          <p:nvPr/>
        </p:nvSpPr>
        <p:spPr>
          <a:xfrm>
            <a:off x="170950" y="793988"/>
            <a:ext cx="44094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2: Cater to universal usability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gcae569c59d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6250" y="1347425"/>
            <a:ext cx="3357725" cy="477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cae569c59d_0_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3575" y="1433700"/>
            <a:ext cx="3357724" cy="46025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gcae569c59d_0_92"/>
          <p:cNvCxnSpPr/>
          <p:nvPr/>
        </p:nvCxnSpPr>
        <p:spPr>
          <a:xfrm rot="10800000" flipH="1">
            <a:off x="3023200" y="4252550"/>
            <a:ext cx="495900" cy="597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6" name="Google Shape;256;gcae569c59d_0_92"/>
          <p:cNvSpPr txBox="1"/>
          <p:nvPr/>
        </p:nvSpPr>
        <p:spPr>
          <a:xfrm>
            <a:off x="3569300" y="2144725"/>
            <a:ext cx="21804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False option feedback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Only registered Admin can use features of Admin, but some users don’t know that. So, for catering to universal usability, we add these text and false option feedback to help.</a:t>
            </a:r>
            <a:endParaRPr dirty="0"/>
          </a:p>
        </p:txBody>
      </p:sp>
      <p:cxnSp>
        <p:nvCxnSpPr>
          <p:cNvPr id="257" name="Google Shape;257;gcae569c59d_0_92"/>
          <p:cNvCxnSpPr/>
          <p:nvPr/>
        </p:nvCxnSpPr>
        <p:spPr>
          <a:xfrm rot="10800000">
            <a:off x="5414175" y="4342550"/>
            <a:ext cx="733200" cy="456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cae569c59d_0_104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Usability Design Principles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cae569c59d_0_104"/>
          <p:cNvSpPr txBox="1"/>
          <p:nvPr/>
        </p:nvSpPr>
        <p:spPr>
          <a:xfrm>
            <a:off x="372225" y="1229475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cae569c59d_0_104"/>
          <p:cNvSpPr txBox="1"/>
          <p:nvPr/>
        </p:nvSpPr>
        <p:spPr>
          <a:xfrm>
            <a:off x="170950" y="794000"/>
            <a:ext cx="85158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Offer informative feedback &amp;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4: Design dialogs to yield closure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gcae569c59d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225" y="1277250"/>
            <a:ext cx="3992150" cy="482597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cae569c59d_0_104"/>
          <p:cNvSpPr txBox="1"/>
          <p:nvPr/>
        </p:nvSpPr>
        <p:spPr>
          <a:xfrm>
            <a:off x="5077250" y="3993325"/>
            <a:ext cx="3564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Action forward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When the system executes the action that users choose, there is an informative feedback.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also a response/closure to the login request.</a:t>
            </a:r>
            <a:endParaRPr dirty="0"/>
          </a:p>
        </p:txBody>
      </p:sp>
      <p:cxnSp>
        <p:nvCxnSpPr>
          <p:cNvPr id="267" name="Google Shape;267;gcae569c59d_0_104"/>
          <p:cNvCxnSpPr/>
          <p:nvPr/>
        </p:nvCxnSpPr>
        <p:spPr>
          <a:xfrm rot="10800000" flipH="1">
            <a:off x="3508225" y="4839025"/>
            <a:ext cx="1409700" cy="631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cae569c59d_0_110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Usability Design Principles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cae569c59d_0_110"/>
          <p:cNvSpPr txBox="1"/>
          <p:nvPr/>
        </p:nvSpPr>
        <p:spPr>
          <a:xfrm>
            <a:off x="372225" y="1229475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cae569c59d_0_110"/>
          <p:cNvSpPr txBox="1"/>
          <p:nvPr/>
        </p:nvSpPr>
        <p:spPr>
          <a:xfrm>
            <a:off x="170950" y="793988"/>
            <a:ext cx="44094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5: Prevent errors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gcae569c59d_0_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850" y="967238"/>
            <a:ext cx="3622971" cy="4923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gcae569c59d_0_110"/>
          <p:cNvCxnSpPr/>
          <p:nvPr/>
        </p:nvCxnSpPr>
        <p:spPr>
          <a:xfrm rot="10800000">
            <a:off x="4004325" y="4342575"/>
            <a:ext cx="1285800" cy="428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7" name="Google Shape;277;gcae569c59d_0_110"/>
          <p:cNvSpPr txBox="1"/>
          <p:nvPr/>
        </p:nvSpPr>
        <p:spPr>
          <a:xfrm>
            <a:off x="305975" y="3158625"/>
            <a:ext cx="3564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Invalidation check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added many invalidation check for the user inputs to prevent potential errors.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cae569c59d_0_116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Usability Design Principles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cae569c59d_0_116"/>
          <p:cNvSpPr txBox="1"/>
          <p:nvPr/>
        </p:nvSpPr>
        <p:spPr>
          <a:xfrm>
            <a:off x="372225" y="1229475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cae569c59d_0_116"/>
          <p:cNvSpPr txBox="1"/>
          <p:nvPr/>
        </p:nvSpPr>
        <p:spPr>
          <a:xfrm>
            <a:off x="170950" y="793988"/>
            <a:ext cx="44094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6: Permit easy reversal of actions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gcae569c59d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29675"/>
            <a:ext cx="8839200" cy="44300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gcae569c59d_0_116"/>
          <p:cNvCxnSpPr/>
          <p:nvPr/>
        </p:nvCxnSpPr>
        <p:spPr>
          <a:xfrm rot="10800000">
            <a:off x="5290125" y="3643275"/>
            <a:ext cx="0" cy="902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7" name="Google Shape;287;gcae569c59d_0_116"/>
          <p:cNvSpPr txBox="1"/>
          <p:nvPr/>
        </p:nvSpPr>
        <p:spPr>
          <a:xfrm>
            <a:off x="4050075" y="2194250"/>
            <a:ext cx="2480100" cy="126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highlight>
                  <a:srgbClr val="FFFFFF"/>
                </a:highlight>
              </a:rPr>
              <a:t>Reversal of actions</a:t>
            </a:r>
            <a:endParaRPr b="1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ighlight>
                  <a:srgbClr val="FFFFFF"/>
                </a:highlight>
              </a:rPr>
              <a:t>We added many reversal of actions to help users find a way to return to the previous screens</a:t>
            </a:r>
            <a:endParaRPr dirty="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cae569c59d_0_122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Usability Design Principles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cae569c59d_0_122"/>
          <p:cNvSpPr txBox="1"/>
          <p:nvPr/>
        </p:nvSpPr>
        <p:spPr>
          <a:xfrm>
            <a:off x="372225" y="1229475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cae569c59d_0_122"/>
          <p:cNvSpPr txBox="1"/>
          <p:nvPr/>
        </p:nvSpPr>
        <p:spPr>
          <a:xfrm>
            <a:off x="170950" y="794000"/>
            <a:ext cx="52095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7: Support internal locus of control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gcae569c59d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625" y="1573275"/>
            <a:ext cx="3096126" cy="4355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cae569c59d_0_122"/>
          <p:cNvSpPr/>
          <p:nvPr/>
        </p:nvSpPr>
        <p:spPr>
          <a:xfrm>
            <a:off x="1387375" y="3113175"/>
            <a:ext cx="1872300" cy="14775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7" name="Google Shape;297;gcae569c59d_0_122"/>
          <p:cNvCxnSpPr/>
          <p:nvPr/>
        </p:nvCxnSpPr>
        <p:spPr>
          <a:xfrm>
            <a:off x="3259675" y="3851925"/>
            <a:ext cx="1511700" cy="118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8" name="Google Shape;298;gcae569c59d_0_122"/>
          <p:cNvSpPr txBox="1"/>
          <p:nvPr/>
        </p:nvSpPr>
        <p:spPr>
          <a:xfrm>
            <a:off x="5178775" y="3564700"/>
            <a:ext cx="3564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Internal control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users can easily control their actions by inputting these numbers.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cae569c59d_0_128"/>
          <p:cNvSpPr txBox="1"/>
          <p:nvPr/>
        </p:nvSpPr>
        <p:spPr>
          <a:xfrm>
            <a:off x="457375" y="154290"/>
            <a:ext cx="8229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Usability Design Principles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cae569c59d_0_128"/>
          <p:cNvSpPr txBox="1"/>
          <p:nvPr/>
        </p:nvSpPr>
        <p:spPr>
          <a:xfrm>
            <a:off x="372225" y="1229475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cae569c59d_0_128"/>
          <p:cNvSpPr txBox="1"/>
          <p:nvPr/>
        </p:nvSpPr>
        <p:spPr>
          <a:xfrm>
            <a:off x="170950" y="794000"/>
            <a:ext cx="48711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8: Reduce short-term memory load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gcae569c59d_0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225" y="1433700"/>
            <a:ext cx="5343525" cy="44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cae569c59d_0_128"/>
          <p:cNvSpPr/>
          <p:nvPr/>
        </p:nvSpPr>
        <p:spPr>
          <a:xfrm>
            <a:off x="3643950" y="5188600"/>
            <a:ext cx="2071800" cy="7782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cae569c59d_0_128"/>
          <p:cNvSpPr/>
          <p:nvPr/>
        </p:nvSpPr>
        <p:spPr>
          <a:xfrm>
            <a:off x="2713500" y="2588775"/>
            <a:ext cx="2071800" cy="7782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cae569c59d_0_128"/>
          <p:cNvSpPr txBox="1"/>
          <p:nvPr/>
        </p:nvSpPr>
        <p:spPr>
          <a:xfrm>
            <a:off x="5579700" y="3366975"/>
            <a:ext cx="32298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Reduce confusion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Since we are text-based design, we designed the date input to be an 8-digit number, so the users will not confuse about how to input the date.</a:t>
            </a:r>
            <a:endParaRPr dirty="0"/>
          </a:p>
        </p:txBody>
      </p:sp>
      <p:cxnSp>
        <p:nvCxnSpPr>
          <p:cNvPr id="310" name="Google Shape;310;gcae569c59d_0_128"/>
          <p:cNvCxnSpPr/>
          <p:nvPr/>
        </p:nvCxnSpPr>
        <p:spPr>
          <a:xfrm>
            <a:off x="4500425" y="3130050"/>
            <a:ext cx="958800" cy="299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1" name="Google Shape;311;gcae569c59d_0_128"/>
          <p:cNvCxnSpPr>
            <a:stCxn id="307" idx="7"/>
          </p:cNvCxnSpPr>
          <p:nvPr/>
        </p:nvCxnSpPr>
        <p:spPr>
          <a:xfrm rot="10800000" flipH="1">
            <a:off x="5412342" y="4793765"/>
            <a:ext cx="396600" cy="508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cae569c59d_0_185"/>
          <p:cNvSpPr txBox="1"/>
          <p:nvPr/>
        </p:nvSpPr>
        <p:spPr>
          <a:xfrm>
            <a:off x="295775" y="2300450"/>
            <a:ext cx="63705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 for listening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cae569c59d_0_185"/>
          <p:cNvSpPr txBox="1"/>
          <p:nvPr/>
        </p:nvSpPr>
        <p:spPr>
          <a:xfrm>
            <a:off x="295775" y="3169550"/>
            <a:ext cx="7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/>
              <a:t>Team 48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cae569c59d_0_180"/>
          <p:cNvSpPr txBox="1"/>
          <p:nvPr/>
        </p:nvSpPr>
        <p:spPr>
          <a:xfrm>
            <a:off x="295775" y="2300450"/>
            <a:ext cx="63705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744</Words>
  <Application>Microsoft Office PowerPoint</Application>
  <PresentationFormat>On-screen Show (4:3)</PresentationFormat>
  <Paragraphs>124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 Narrow</vt:lpstr>
      <vt:lpstr>Calibri</vt:lpstr>
      <vt:lpstr>Arial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Daisy Cristata</cp:lastModifiedBy>
  <cp:revision>8</cp:revision>
  <dcterms:modified xsi:type="dcterms:W3CDTF">2021-03-31T00:45:14Z</dcterms:modified>
</cp:coreProperties>
</file>